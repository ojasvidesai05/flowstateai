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Overlock"/>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Overlock-bold.fntdata"/><Relationship Id="rId14" Type="http://schemas.openxmlformats.org/officeDocument/2006/relationships/font" Target="fonts/Overlock-regular.fntdata"/><Relationship Id="rId17" Type="http://schemas.openxmlformats.org/officeDocument/2006/relationships/font" Target="fonts/Overlock-boldItalic.fntdata"/><Relationship Id="rId16" Type="http://schemas.openxmlformats.org/officeDocument/2006/relationships/font" Target="fonts/Overlock-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p:nvPr>
            <p:ph idx="2" type="pic"/>
          </p:nvPr>
        </p:nvSpPr>
        <p:spPr>
          <a:xfrm>
            <a:off x="5183188" y="987425"/>
            <a:ext cx="6172200" cy="4873625"/>
          </a:xfrm>
          <a:prstGeom prst="rect">
            <a:avLst/>
          </a:prstGeom>
          <a:noFill/>
          <a:ln>
            <a:noFill/>
          </a:ln>
        </p:spPr>
      </p:sp>
      <p:sp>
        <p:nvSpPr>
          <p:cNvPr id="69" name="Google Shape;6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ojasvidesai05/FlowStateA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40504" l="35216" r="35722" t="9860"/>
          <a:stretch/>
        </p:blipFill>
        <p:spPr>
          <a:xfrm>
            <a:off x="7372538" y="1619794"/>
            <a:ext cx="4421349" cy="5638238"/>
          </a:xfrm>
          <a:prstGeom prst="rect">
            <a:avLst/>
          </a:prstGeom>
          <a:noFill/>
          <a:ln>
            <a:noFill/>
          </a:ln>
        </p:spPr>
      </p:pic>
      <p:sp>
        <p:nvSpPr>
          <p:cNvPr id="90" name="Google Shape;90;p14"/>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4"/>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4"/>
          <p:cNvSpPr txBox="1"/>
          <p:nvPr/>
        </p:nvSpPr>
        <p:spPr>
          <a:xfrm>
            <a:off x="614772" y="2459504"/>
            <a:ext cx="5132400" cy="4402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RVCE</a:t>
            </a:r>
            <a:r>
              <a:rPr b="1" i="0" lang="en-IN" sz="4000" u="none" cap="none" strike="noStrike">
                <a:solidFill>
                  <a:srgbClr val="E81B25"/>
                </a:solidFill>
                <a:latin typeface="Overlock"/>
                <a:ea typeface="Overlock"/>
                <a:cs typeface="Overlock"/>
                <a:sym typeface="Overlock"/>
              </a:rPr>
              <a:t>_</a:t>
            </a:r>
            <a:r>
              <a:rPr b="1" lang="en-IN" sz="4000">
                <a:solidFill>
                  <a:srgbClr val="E81B25"/>
                </a:solidFill>
                <a:latin typeface="Overlock"/>
                <a:ea typeface="Overlock"/>
                <a:cs typeface="Overlock"/>
                <a:sym typeface="Overlock"/>
              </a:rPr>
              <a:t>FlowState AI</a:t>
            </a:r>
            <a:endParaRPr/>
          </a:p>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Competitive</a:t>
            </a:r>
            <a:r>
              <a:rPr b="1" lang="en-IN" sz="4000">
                <a:solidFill>
                  <a:srgbClr val="E81B25"/>
                </a:solidFill>
                <a:latin typeface="Overlock"/>
                <a:ea typeface="Overlock"/>
                <a:cs typeface="Overlock"/>
                <a:sym typeface="Overlock"/>
              </a:rPr>
              <a:t> Exam Personalized Guide</a:t>
            </a:r>
            <a:endParaRPr/>
          </a:p>
          <a:p>
            <a:pPr indent="0" lvl="0" marL="0" marR="0" rtl="0" algn="ctr">
              <a:spcBef>
                <a:spcPts val="0"/>
              </a:spcBef>
              <a:spcAft>
                <a:spcPts val="0"/>
              </a:spcAft>
              <a:buNone/>
            </a:pPr>
            <a:r>
              <a:t/>
            </a:r>
            <a:endParaRPr b="1" i="0" sz="4000" u="none" cap="none" strike="noStrike">
              <a:solidFill>
                <a:srgbClr val="E81B25"/>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Ojasvi Desai - 1RV23EE030</a:t>
            </a:r>
            <a:br>
              <a:rPr b="1" i="0" lang="en-IN" sz="4000" u="none" cap="none" strike="noStrike">
                <a:solidFill>
                  <a:schemeClr val="dk2"/>
                </a:solidFill>
                <a:latin typeface="Overlock"/>
                <a:ea typeface="Overlock"/>
                <a:cs typeface="Overlock"/>
                <a:sym typeface="Overlock"/>
              </a:rPr>
            </a:br>
            <a:endParaRPr b="1" i="0" sz="4000" u="none" cap="none" strike="noStrike">
              <a:solidFill>
                <a:schemeClr val="dk2"/>
              </a:solidFill>
              <a:latin typeface="Overlock"/>
              <a:ea typeface="Overlock"/>
              <a:cs typeface="Overlock"/>
              <a:sym typeface="Overlock"/>
            </a:endParaRPr>
          </a:p>
        </p:txBody>
      </p:sp>
      <p:grpSp>
        <p:nvGrpSpPr>
          <p:cNvPr id="93" name="Google Shape;93;p14"/>
          <p:cNvGrpSpPr/>
          <p:nvPr/>
        </p:nvGrpSpPr>
        <p:grpSpPr>
          <a:xfrm>
            <a:off x="137355" y="46746"/>
            <a:ext cx="3814159" cy="639045"/>
            <a:chOff x="137355" y="133834"/>
            <a:chExt cx="3814159" cy="639045"/>
          </a:xfrm>
        </p:grpSpPr>
        <p:pic>
          <p:nvPicPr>
            <p:cNvPr id="94" name="Google Shape;94;p14"/>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4"/>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IN" sz="1000" u="none" cap="none" strike="noStrike">
                <a:solidFill>
                  <a:schemeClr val="lt1"/>
                </a:solidFill>
                <a:latin typeface="Calibri"/>
                <a:ea typeface="Calibri"/>
                <a:cs typeface="Calibri"/>
                <a:sym typeface="Calibri"/>
              </a:rPr>
              <a:t>Idea</a:t>
            </a:r>
            <a:endParaRPr b="0" i="0" sz="1000" u="none" cap="none" strike="noStrike">
              <a:solidFill>
                <a:schemeClr val="lt1"/>
              </a:solidFill>
              <a:latin typeface="Calibri"/>
              <a:ea typeface="Calibri"/>
              <a:cs typeface="Calibri"/>
              <a:sym typeface="Calibri"/>
            </a:endParaRPr>
          </a:p>
        </p:txBody>
      </p:sp>
      <p:sp>
        <p:nvSpPr>
          <p:cNvPr id="104" name="Google Shape;104;p1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5" name="Google Shape;105;p15"/>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06" name="Google Shape;106;p15"/>
          <p:cNvSpPr txBox="1"/>
          <p:nvPr/>
        </p:nvSpPr>
        <p:spPr>
          <a:xfrm>
            <a:off x="1449825" y="1743750"/>
            <a:ext cx="97776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100">
                <a:solidFill>
                  <a:schemeClr val="dk1"/>
                </a:solidFill>
                <a:latin typeface="Calibri"/>
                <a:ea typeface="Calibri"/>
                <a:cs typeface="Calibri"/>
                <a:sym typeface="Calibri"/>
              </a:rPr>
              <a:t>Productivity tools don’t translate a long term goal into a realistic, flexible plan. Users fail to sustain progress because planners assume a perfect world and do not account for busy schedules or unexpected interruptions.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rPr lang="en-IN" sz="2100">
                <a:solidFill>
                  <a:schemeClr val="dk1"/>
                </a:solidFill>
                <a:latin typeface="Calibri"/>
                <a:ea typeface="Calibri"/>
                <a:cs typeface="Calibri"/>
                <a:sym typeface="Calibri"/>
              </a:rPr>
              <a:t>Most of the time, whenever there is some interruption in the schedule, we are not able to correctly manage and </a:t>
            </a:r>
            <a:r>
              <a:rPr lang="en-IN" sz="2100">
                <a:solidFill>
                  <a:schemeClr val="dk1"/>
                </a:solidFill>
                <a:latin typeface="Calibri"/>
                <a:ea typeface="Calibri"/>
                <a:cs typeface="Calibri"/>
                <a:sym typeface="Calibri"/>
              </a:rPr>
              <a:t>in</a:t>
            </a:r>
            <a:r>
              <a:rPr lang="en-IN" sz="2100">
                <a:solidFill>
                  <a:schemeClr val="dk1"/>
                </a:solidFill>
                <a:latin typeface="Calibri"/>
                <a:ea typeface="Calibri"/>
                <a:cs typeface="Calibri"/>
                <a:sym typeface="Calibri"/>
              </a:rPr>
              <a:t> turn end up with chaos.</a:t>
            </a:r>
            <a:br>
              <a:rPr lang="en-IN" sz="2100">
                <a:solidFill>
                  <a:schemeClr val="dk1"/>
                </a:solidFill>
                <a:latin typeface="Calibri"/>
                <a:ea typeface="Calibri"/>
                <a:cs typeface="Calibri"/>
                <a:sym typeface="Calibri"/>
              </a:rPr>
            </a:br>
            <a:br>
              <a:rPr lang="en-IN" sz="2100">
                <a:solidFill>
                  <a:schemeClr val="dk1"/>
                </a:solidFill>
                <a:latin typeface="Calibri"/>
                <a:ea typeface="Calibri"/>
                <a:cs typeface="Calibri"/>
                <a:sym typeface="Calibri"/>
              </a:rPr>
            </a:br>
            <a:r>
              <a:rPr b="1" lang="en-IN" sz="2100">
                <a:solidFill>
                  <a:schemeClr val="dk1"/>
                </a:solidFill>
                <a:latin typeface="Calibri"/>
                <a:ea typeface="Calibri"/>
                <a:cs typeface="Calibri"/>
                <a:sym typeface="Calibri"/>
              </a:rPr>
              <a:t>Who faces it :</a:t>
            </a:r>
            <a:r>
              <a:rPr lang="en-IN" sz="2100">
                <a:solidFill>
                  <a:schemeClr val="dk1"/>
                </a:solidFill>
                <a:latin typeface="Calibri"/>
                <a:ea typeface="Calibri"/>
                <a:cs typeface="Calibri"/>
                <a:sym typeface="Calibri"/>
              </a:rPr>
              <a:t> Engineering students preparing for competitive exams (GATE, JEE, NEET, Placements) who are balancing college schedules with intensive self study.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100">
                <a:solidFill>
                  <a:schemeClr val="dk1"/>
                </a:solidFill>
                <a:latin typeface="Calibri"/>
                <a:ea typeface="Calibri"/>
                <a:cs typeface="Calibri"/>
                <a:sym typeface="Calibri"/>
              </a:rPr>
              <a:t>Why is it important:</a:t>
            </a:r>
            <a:r>
              <a:rPr lang="en-IN" sz="2100">
                <a:solidFill>
                  <a:schemeClr val="dk1"/>
                </a:solidFill>
                <a:latin typeface="Calibri"/>
                <a:ea typeface="Calibri"/>
                <a:cs typeface="Calibri"/>
                <a:sym typeface="Calibri"/>
              </a:rPr>
              <a:t> Without adaptive scheduling, a single disruption (like a week of college exams) breaks the entire plan. When plans break, motivation drops</a:t>
            </a:r>
            <a:r>
              <a:rPr lang="en-IN" sz="2100">
                <a:solidFill>
                  <a:schemeClr val="dk1"/>
                </a:solidFill>
                <a:latin typeface="Calibri"/>
                <a:ea typeface="Calibri"/>
                <a:cs typeface="Calibri"/>
                <a:sym typeface="Calibri"/>
              </a:rPr>
              <a:t> and</a:t>
            </a:r>
            <a:r>
              <a:rPr lang="en-IN" sz="2100">
                <a:solidFill>
                  <a:schemeClr val="dk1"/>
                </a:solidFill>
                <a:latin typeface="Calibri"/>
                <a:ea typeface="Calibri"/>
                <a:cs typeface="Calibri"/>
                <a:sym typeface="Calibri"/>
              </a:rPr>
              <a:t> the goal is abandoned. </a:t>
            </a:r>
            <a:endParaRPr sz="2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15" name="Google Shape;115;p16"/>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p:txBody>
      </p:sp>
      <p:sp>
        <p:nvSpPr>
          <p:cNvPr id="116" name="Google Shape;116;p16"/>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17" name="Google Shape;117;p16"/>
          <p:cNvSpPr txBox="1"/>
          <p:nvPr/>
        </p:nvSpPr>
        <p:spPr>
          <a:xfrm>
            <a:off x="1225050" y="1633725"/>
            <a:ext cx="10585800" cy="4819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Existing solutions:</a:t>
            </a:r>
            <a:r>
              <a:rPr lang="en-IN" sz="2200">
                <a:solidFill>
                  <a:schemeClr val="dk1"/>
                </a:solidFill>
                <a:latin typeface="Calibri"/>
                <a:ea typeface="Calibri"/>
                <a:cs typeface="Calibri"/>
                <a:sym typeface="Calibri"/>
              </a:rPr>
              <a:t> Generic to do list apps (Todoist), static calendar blocking (Google Calendar)</a:t>
            </a:r>
            <a:r>
              <a:rPr lang="en-IN" sz="2200">
                <a:solidFill>
                  <a:schemeClr val="dk1"/>
                </a:solidFill>
                <a:latin typeface="Calibri"/>
                <a:ea typeface="Calibri"/>
                <a:cs typeface="Calibri"/>
                <a:sym typeface="Calibri"/>
              </a:rPr>
              <a:t> and</a:t>
            </a:r>
            <a:r>
              <a:rPr lang="en-IN" sz="2200">
                <a:solidFill>
                  <a:schemeClr val="dk1"/>
                </a:solidFill>
                <a:latin typeface="Calibri"/>
                <a:ea typeface="Calibri"/>
                <a:cs typeface="Calibri"/>
                <a:sym typeface="Calibri"/>
              </a:rPr>
              <a:t> basic AI schedulers that simply dump tasks into time slots.</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What’s missing/broken:</a:t>
            </a:r>
            <a:r>
              <a:rPr lang="en-IN" sz="2200">
                <a:solidFill>
                  <a:schemeClr val="dk1"/>
                </a:solidFill>
                <a:latin typeface="Calibri"/>
                <a:ea typeface="Calibri"/>
                <a:cs typeface="Calibri"/>
                <a:sym typeface="Calibri"/>
              </a:rPr>
              <a:t> </a:t>
            </a:r>
            <a:r>
              <a:rPr b="1" lang="en-IN" sz="2200">
                <a:solidFill>
                  <a:schemeClr val="dk1"/>
                </a:solidFill>
                <a:latin typeface="Calibri"/>
                <a:ea typeface="Calibri"/>
                <a:cs typeface="Calibri"/>
                <a:sym typeface="Calibri"/>
              </a:rPr>
              <a:t>No Constraint Awareness:</a:t>
            </a:r>
            <a:r>
              <a:rPr lang="en-IN" sz="2200">
                <a:solidFill>
                  <a:schemeClr val="dk1"/>
                </a:solidFill>
                <a:latin typeface="Calibri"/>
                <a:ea typeface="Calibri"/>
                <a:cs typeface="Calibri"/>
                <a:sym typeface="Calibri"/>
              </a:rPr>
              <a:t> Existing apps assign tasks without evaluating if the user actually has the free time or cognitive bandwidth that day.</a:t>
            </a:r>
            <a:endParaRPr sz="22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Char char="●"/>
            </a:pPr>
            <a:r>
              <a:rPr b="1" lang="en-IN" sz="2200">
                <a:solidFill>
                  <a:schemeClr val="dk1"/>
                </a:solidFill>
                <a:latin typeface="Calibri"/>
                <a:ea typeface="Calibri"/>
                <a:cs typeface="Calibri"/>
                <a:sym typeface="Calibri"/>
              </a:rPr>
              <a:t>Zero Fault Tolerance:</a:t>
            </a:r>
            <a:r>
              <a:rPr lang="en-IN" sz="2200">
                <a:solidFill>
                  <a:schemeClr val="dk1"/>
                </a:solidFill>
                <a:latin typeface="Calibri"/>
                <a:ea typeface="Calibri"/>
                <a:cs typeface="Calibri"/>
                <a:sym typeface="Calibri"/>
              </a:rPr>
              <a:t> They lack auto rescheduling for missed tasks. If you miss a day, you have to manually reorganize your entire week.</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Calibri"/>
                <a:ea typeface="Calibri"/>
                <a:cs typeface="Calibri"/>
                <a:sym typeface="Calibri"/>
              </a:rPr>
              <a:t>Lack of Domain Context:</a:t>
            </a:r>
            <a:r>
              <a:rPr lang="en-IN" sz="2200">
                <a:solidFill>
                  <a:schemeClr val="dk1"/>
                </a:solidFill>
                <a:latin typeface="Calibri"/>
                <a:ea typeface="Calibri"/>
                <a:cs typeface="Calibri"/>
                <a:sym typeface="Calibri"/>
              </a:rPr>
              <a:t> They use generic labels ("Study Physics") instead of actionable, syllabus mapped micro tasks.</a:t>
            </a:r>
            <a:endParaRPr sz="2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Opportunity:</a:t>
            </a:r>
            <a:r>
              <a:rPr lang="en-IN" sz="2200">
                <a:solidFill>
                  <a:schemeClr val="dk1"/>
                </a:solidFill>
                <a:latin typeface="Calibri"/>
                <a:ea typeface="Calibri"/>
                <a:cs typeface="Calibri"/>
                <a:sym typeface="Calibri"/>
              </a:rPr>
              <a:t> To build an "AI Life Architect"—a resilient planner that expects human failure and real life chaos, continuously adapting and regenerating schedules to keep the user on track without the guilt trip.</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26" name="Google Shape;126;p17"/>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27" name="Google Shape;127;p17"/>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28" name="Google Shape;128;p17"/>
          <p:cNvSpPr txBox="1"/>
          <p:nvPr/>
        </p:nvSpPr>
        <p:spPr>
          <a:xfrm>
            <a:off x="1274400" y="1633725"/>
            <a:ext cx="10308000" cy="462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800">
                <a:solidFill>
                  <a:schemeClr val="dk1"/>
                </a:solidFill>
                <a:latin typeface="Calibri"/>
                <a:ea typeface="Calibri"/>
                <a:cs typeface="Calibri"/>
                <a:sym typeface="Calibri"/>
              </a:rPr>
              <a:t>What you built: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FlowStateAI</a:t>
            </a:r>
            <a:r>
              <a:rPr lang="en-IN" sz="1800">
                <a:solidFill>
                  <a:schemeClr val="dk1"/>
                </a:solidFill>
                <a:latin typeface="Calibri"/>
                <a:ea typeface="Calibri"/>
                <a:cs typeface="Calibri"/>
                <a:sym typeface="Calibri"/>
              </a:rPr>
              <a:t>, an intelligent mobile application (Android) that converts broad, long term goals into structured, highly adaptive action plans based on real time user availability.</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IN" sz="1800">
                <a:solidFill>
                  <a:schemeClr val="dk1"/>
                </a:solidFill>
                <a:latin typeface="Calibri"/>
                <a:ea typeface="Calibri"/>
                <a:cs typeface="Calibri"/>
                <a:sym typeface="Calibri"/>
              </a:rPr>
              <a:t>Core Ideas Explanation:</a:t>
            </a:r>
            <a:r>
              <a:rPr lang="en-IN" sz="1800">
                <a:solidFill>
                  <a:schemeClr val="dk1"/>
                </a:solidFill>
                <a:latin typeface="Calibri"/>
                <a:ea typeface="Calibri"/>
                <a:cs typeface="Calibri"/>
                <a:sym typeface="Calibri"/>
              </a:rPr>
              <a:t> The system is built on an agent based workflow divided into four modular layers:</a:t>
            </a:r>
            <a:endParaRPr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AutoNum type="arabicPeriod"/>
            </a:pPr>
            <a:r>
              <a:rPr b="1" lang="en-IN" sz="1800">
                <a:solidFill>
                  <a:schemeClr val="dk1"/>
                </a:solidFill>
                <a:latin typeface="Calibri"/>
                <a:ea typeface="Calibri"/>
                <a:cs typeface="Calibri"/>
                <a:sym typeface="Calibri"/>
              </a:rPr>
              <a:t>Goal Decomposition:</a:t>
            </a:r>
            <a:r>
              <a:rPr lang="en-IN" sz="1800">
                <a:solidFill>
                  <a:schemeClr val="dk1"/>
                </a:solidFill>
                <a:latin typeface="Calibri"/>
                <a:ea typeface="Calibri"/>
                <a:cs typeface="Calibri"/>
                <a:sym typeface="Calibri"/>
              </a:rPr>
              <a:t> Breaking large goals into actionable nodes.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Constraint Analysis:</a:t>
            </a:r>
            <a:r>
              <a:rPr lang="en-IN" sz="1800">
                <a:solidFill>
                  <a:schemeClr val="dk1"/>
                </a:solidFill>
                <a:latin typeface="Calibri"/>
                <a:ea typeface="Calibri"/>
                <a:cs typeface="Calibri"/>
                <a:sym typeface="Calibri"/>
              </a:rPr>
              <a:t> Evaluating real world limitations (time, commitments) </a:t>
            </a:r>
            <a:r>
              <a:rPr i="1" lang="en-IN" sz="1800">
                <a:solidFill>
                  <a:schemeClr val="dk1"/>
                </a:solidFill>
                <a:latin typeface="Calibri"/>
                <a:ea typeface="Calibri"/>
                <a:cs typeface="Calibri"/>
                <a:sym typeface="Calibri"/>
              </a:rPr>
              <a:t>before</a:t>
            </a:r>
            <a:r>
              <a:rPr lang="en-IN" sz="1800">
                <a:solidFill>
                  <a:schemeClr val="dk1"/>
                </a:solidFill>
                <a:latin typeface="Calibri"/>
                <a:ea typeface="Calibri"/>
                <a:cs typeface="Calibri"/>
                <a:sym typeface="Calibri"/>
              </a:rPr>
              <a:t> planning.</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Scheduling Engine:</a:t>
            </a:r>
            <a:r>
              <a:rPr lang="en-IN" sz="1800">
                <a:solidFill>
                  <a:schemeClr val="dk1"/>
                </a:solidFill>
                <a:latin typeface="Calibri"/>
                <a:ea typeface="Calibri"/>
                <a:cs typeface="Calibri"/>
                <a:sym typeface="Calibri"/>
              </a:rPr>
              <a:t> Mapping tasks to available time gaps.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Adaptive Rescheduling:</a:t>
            </a:r>
            <a:r>
              <a:rPr lang="en-IN" sz="1800">
                <a:solidFill>
                  <a:schemeClr val="dk1"/>
                </a:solidFill>
                <a:latin typeface="Calibri"/>
                <a:ea typeface="Calibri"/>
                <a:cs typeface="Calibri"/>
                <a:sym typeface="Calibri"/>
              </a:rPr>
              <a:t> The core loop that updates the plan dynamically when tasks are missed.</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sz="1800">
                <a:solidFill>
                  <a:schemeClr val="dk1"/>
                </a:solidFill>
                <a:latin typeface="Calibri"/>
                <a:ea typeface="Calibri"/>
                <a:cs typeface="Calibri"/>
                <a:sym typeface="Calibri"/>
              </a:rPr>
              <a:t>Key Features:</a:t>
            </a:r>
            <a:endParaRPr b="1"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Char char="●"/>
            </a:pPr>
            <a:r>
              <a:rPr b="1" lang="en-IN" sz="1800">
                <a:solidFill>
                  <a:schemeClr val="dk1"/>
                </a:solidFill>
                <a:latin typeface="Calibri"/>
                <a:ea typeface="Calibri"/>
                <a:cs typeface="Calibri"/>
                <a:sym typeface="Calibri"/>
              </a:rPr>
              <a:t>Syllabus Aware Tasking:</a:t>
            </a:r>
            <a:r>
              <a:rPr lang="en-IN" sz="1800">
                <a:solidFill>
                  <a:schemeClr val="dk1"/>
                </a:solidFill>
                <a:latin typeface="Calibri"/>
                <a:ea typeface="Calibri"/>
                <a:cs typeface="Calibri"/>
                <a:sym typeface="Calibri"/>
              </a:rPr>
              <a:t> Injects actual syllabus dictionaries into the LLM prompt (e.g., outputs "JEE Physics: Rotational Motion — Torque" instead of "Study Physics").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latin typeface="Calibri"/>
                <a:ea typeface="Calibri"/>
                <a:cs typeface="Calibri"/>
                <a:sym typeface="Calibri"/>
              </a:rPr>
              <a:t>Automated Buffer Slots:</a:t>
            </a:r>
            <a:r>
              <a:rPr lang="en-IN" sz="1800">
                <a:solidFill>
                  <a:schemeClr val="dk1"/>
                </a:solidFill>
                <a:latin typeface="Calibri"/>
                <a:ea typeface="Calibri"/>
                <a:cs typeface="Calibri"/>
                <a:sym typeface="Calibri"/>
              </a:rPr>
              <a:t> Strategically inserts "catch up" days every 5th working day to absorb overspill.</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latin typeface="Calibri"/>
                <a:ea typeface="Calibri"/>
                <a:cs typeface="Calibri"/>
                <a:sym typeface="Calibri"/>
              </a:rPr>
              <a:t>Priority Weighting:</a:t>
            </a:r>
            <a:r>
              <a:rPr lang="en-IN" sz="1800">
                <a:solidFill>
                  <a:schemeClr val="dk1"/>
                </a:solidFill>
                <a:latin typeface="Calibri"/>
                <a:ea typeface="Calibri"/>
                <a:cs typeface="Calibri"/>
                <a:sym typeface="Calibri"/>
              </a:rPr>
              <a:t> Automatically allocates up to 40% more study time to subjects the user marks as "weak."</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37" name="Google Shape;137;p18"/>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138" name="Google Shape;138;p18"/>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39" name="Google Shape;139;p18"/>
          <p:cNvSpPr txBox="1"/>
          <p:nvPr/>
        </p:nvSpPr>
        <p:spPr>
          <a:xfrm>
            <a:off x="1047750" y="1751000"/>
            <a:ext cx="10386900" cy="50919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1200"/>
              </a:spcBef>
              <a:spcAft>
                <a:spcPts val="0"/>
              </a:spcAft>
              <a:buClr>
                <a:schemeClr val="dk1"/>
              </a:buClr>
              <a:buSzPts val="1800"/>
              <a:buFont typeface="Calibri"/>
              <a:buChar char="●"/>
            </a:pPr>
            <a:r>
              <a:rPr b="1" lang="en-IN" sz="1800">
                <a:solidFill>
                  <a:schemeClr val="dk1"/>
                </a:solidFill>
                <a:latin typeface="Calibri"/>
                <a:ea typeface="Calibri"/>
                <a:cs typeface="Calibri"/>
                <a:sym typeface="Calibri"/>
              </a:rPr>
              <a:t>Screen/Flow How User Interacts:</a:t>
            </a:r>
            <a:endParaRPr b="1"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Setup Wizard (The Intake):</a:t>
            </a:r>
            <a:r>
              <a:rPr lang="en-IN" sz="1800">
                <a:solidFill>
                  <a:schemeClr val="dk1"/>
                </a:solidFill>
                <a:latin typeface="Calibri"/>
                <a:ea typeface="Calibri"/>
                <a:cs typeface="Calibri"/>
                <a:sym typeface="Calibri"/>
              </a:rPr>
              <a:t> The user defines their target goal/exam, identifies weak vs. strong subjects</a:t>
            </a:r>
            <a:r>
              <a:rPr lang="en-IN" sz="1800">
                <a:solidFill>
                  <a:schemeClr val="dk1"/>
                </a:solidFill>
                <a:latin typeface="Calibri"/>
                <a:ea typeface="Calibri"/>
                <a:cs typeface="Calibri"/>
                <a:sym typeface="Calibri"/>
              </a:rPr>
              <a:t> and</a:t>
            </a:r>
            <a:r>
              <a:rPr lang="en-IN" sz="1800">
                <a:solidFill>
                  <a:schemeClr val="dk1"/>
                </a:solidFill>
                <a:latin typeface="Calibri"/>
                <a:ea typeface="Calibri"/>
                <a:cs typeface="Calibri"/>
                <a:sym typeface="Calibri"/>
              </a:rPr>
              <a:t> inputs hard constraints (e.g., "College from 9 AM to  4 PM," "Available to study 3 hours/day").</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Mission Control (The Dashboard):</a:t>
            </a:r>
            <a:r>
              <a:rPr lang="en-IN" sz="1800">
                <a:solidFill>
                  <a:schemeClr val="dk1"/>
                </a:solidFill>
                <a:latin typeface="Calibri"/>
                <a:ea typeface="Calibri"/>
                <a:cs typeface="Calibri"/>
                <a:sym typeface="Calibri"/>
              </a:rPr>
              <a:t> The daily view where users interact with syllabus mapped tasks. Features a clean, distraction free UI to track subject wise progress.</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Plan View &amp; Buffer Days:</a:t>
            </a:r>
            <a:r>
              <a:rPr lang="en-IN" sz="1800">
                <a:solidFill>
                  <a:schemeClr val="dk1"/>
                </a:solidFill>
                <a:latin typeface="Calibri"/>
                <a:ea typeface="Calibri"/>
                <a:cs typeface="Calibri"/>
                <a:sym typeface="Calibri"/>
              </a:rPr>
              <a:t> A macro view of the weekly schedule, clearly highlighting mandatory milestone days (like "Mock Test Sundays") and dynamic buffer days.</a:t>
            </a:r>
            <a:endParaRPr sz="1800">
              <a:solidFill>
                <a:schemeClr val="dk1"/>
              </a:solidFill>
              <a:latin typeface="Calibri"/>
              <a:ea typeface="Calibri"/>
              <a:cs typeface="Calibri"/>
              <a:sym typeface="Calibri"/>
            </a:endParaRPr>
          </a:p>
          <a:p>
            <a:pPr indent="-342900" lvl="1" marL="9144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Simulator (What If Engine):</a:t>
            </a:r>
            <a:r>
              <a:rPr lang="en-IN" sz="1800">
                <a:solidFill>
                  <a:schemeClr val="dk1"/>
                </a:solidFill>
                <a:latin typeface="Calibri"/>
                <a:ea typeface="Calibri"/>
                <a:cs typeface="Calibri"/>
                <a:sym typeface="Calibri"/>
              </a:rPr>
              <a:t> The user tests scenarios (e.g., "What if I take a week off?"). The app predicts the impact on the final completion date.</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latin typeface="Calibri"/>
                <a:ea typeface="Calibri"/>
                <a:cs typeface="Calibri"/>
                <a:sym typeface="Calibri"/>
              </a:rPr>
              <a:t>Key Moments (The "Wow" Factor):</a:t>
            </a:r>
            <a:r>
              <a:rPr lang="en-IN" sz="1800">
                <a:solidFill>
                  <a:schemeClr val="dk1"/>
                </a:solidFill>
                <a:latin typeface="Calibri"/>
                <a:ea typeface="Calibri"/>
                <a:cs typeface="Calibri"/>
                <a:sym typeface="Calibri"/>
              </a:rPr>
              <a:t> When a user runs a scenario in the Simulator and clicks </a:t>
            </a:r>
            <a:r>
              <a:rPr b="1" lang="en-IN" sz="1800">
                <a:solidFill>
                  <a:schemeClr val="dk1"/>
                </a:solidFill>
                <a:latin typeface="Calibri"/>
                <a:ea typeface="Calibri"/>
                <a:cs typeface="Calibri"/>
                <a:sym typeface="Calibri"/>
              </a:rPr>
              <a:t>"Apply to My Plan."</a:t>
            </a:r>
            <a:r>
              <a:rPr lang="en-IN" sz="1800">
                <a:solidFill>
                  <a:schemeClr val="dk1"/>
                </a:solidFill>
                <a:latin typeface="Calibri"/>
                <a:ea typeface="Calibri"/>
                <a:cs typeface="Calibri"/>
                <a:sym typeface="Calibri"/>
              </a:rPr>
              <a:t> The app triggers the </a:t>
            </a:r>
            <a:r>
              <a:rPr lang="en-IN" sz="1800">
                <a:solidFill>
                  <a:srgbClr val="188038"/>
                </a:solidFill>
                <a:latin typeface="Calibri"/>
                <a:ea typeface="Calibri"/>
                <a:cs typeface="Calibri"/>
                <a:sym typeface="Calibri"/>
              </a:rPr>
              <a:t>/api/plan/apply-scenario</a:t>
            </a:r>
            <a:r>
              <a:rPr lang="en-IN" sz="1800">
                <a:solidFill>
                  <a:schemeClr val="dk1"/>
                </a:solidFill>
                <a:latin typeface="Calibri"/>
                <a:ea typeface="Calibri"/>
                <a:cs typeface="Calibri"/>
                <a:sym typeface="Calibri"/>
              </a:rPr>
              <a:t> endpoint, instantly recalculating the entire timeline, pulling tasks from blocked dates, redistributing them into future buffer slots</a:t>
            </a:r>
            <a:r>
              <a:rPr lang="en-IN" sz="1800">
                <a:solidFill>
                  <a:schemeClr val="dk1"/>
                </a:solidFill>
                <a:latin typeface="Calibri"/>
                <a:ea typeface="Calibri"/>
                <a:cs typeface="Calibri"/>
                <a:sym typeface="Calibri"/>
              </a:rPr>
              <a:t> and</a:t>
            </a:r>
            <a:r>
              <a:rPr lang="en-IN" sz="1800">
                <a:solidFill>
                  <a:schemeClr val="dk1"/>
                </a:solidFill>
                <a:latin typeface="Calibri"/>
                <a:ea typeface="Calibri"/>
                <a:cs typeface="Calibri"/>
                <a:sym typeface="Calibri"/>
              </a:rPr>
              <a:t> seamlessly updating the Mission Control dashboard.</a:t>
            </a:r>
            <a:endParaRPr sz="1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25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9"/>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48" name="Google Shape;148;p19"/>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Tech &amp; Architecture</a:t>
            </a:r>
            <a:endParaRPr sz="4267">
              <a:solidFill>
                <a:schemeClr val="dk1"/>
              </a:solidFill>
              <a:latin typeface="Calibri"/>
              <a:ea typeface="Calibri"/>
              <a:cs typeface="Calibri"/>
              <a:sym typeface="Calibri"/>
            </a:endParaRPr>
          </a:p>
        </p:txBody>
      </p:sp>
      <p:sp>
        <p:nvSpPr>
          <p:cNvPr id="149" name="Google Shape;149;p19"/>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50" name="Google Shape;150;p19"/>
          <p:cNvSpPr txBox="1"/>
          <p:nvPr/>
        </p:nvSpPr>
        <p:spPr>
          <a:xfrm>
            <a:off x="1261625" y="1633725"/>
            <a:ext cx="10028100" cy="4556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Tech Stack:</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Frontend:</a:t>
            </a:r>
            <a:r>
              <a:rPr lang="en-IN" sz="1800">
                <a:solidFill>
                  <a:schemeClr val="dk1"/>
                </a:solidFill>
                <a:latin typeface="Calibri"/>
                <a:ea typeface="Calibri"/>
                <a:cs typeface="Calibri"/>
                <a:sym typeface="Calibri"/>
              </a:rPr>
              <a:t> React Native (compiled to Android APK) for a smooth, native mobile experience.</a:t>
            </a:r>
            <a:endParaRPr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Char char="●"/>
            </a:pPr>
            <a:r>
              <a:rPr b="1" lang="en-IN" sz="1800">
                <a:solidFill>
                  <a:schemeClr val="dk1"/>
                </a:solidFill>
                <a:latin typeface="Calibri"/>
                <a:ea typeface="Calibri"/>
                <a:cs typeface="Calibri"/>
                <a:sym typeface="Calibri"/>
              </a:rPr>
              <a:t>Backend:</a:t>
            </a:r>
            <a:r>
              <a:rPr lang="en-IN" sz="1800">
                <a:solidFill>
                  <a:schemeClr val="dk1"/>
                </a:solidFill>
                <a:latin typeface="Calibri"/>
                <a:ea typeface="Calibri"/>
                <a:cs typeface="Calibri"/>
                <a:sym typeface="Calibri"/>
              </a:rPr>
              <a:t> Python FastAPI for high performance API routing and logic execution.</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AI Usage (Models, APIs, Framework):</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Model:</a:t>
            </a:r>
            <a:r>
              <a:rPr lang="en-IN" sz="1800">
                <a:solidFill>
                  <a:schemeClr val="dk1"/>
                </a:solidFill>
                <a:latin typeface="Calibri"/>
                <a:ea typeface="Calibri"/>
                <a:cs typeface="Calibri"/>
                <a:sym typeface="Calibri"/>
              </a:rPr>
              <a:t> Groq (</a:t>
            </a:r>
            <a:r>
              <a:rPr lang="en-IN" sz="1800">
                <a:solidFill>
                  <a:srgbClr val="188038"/>
                </a:solidFill>
                <a:latin typeface="Calibri"/>
                <a:ea typeface="Calibri"/>
                <a:cs typeface="Calibri"/>
                <a:sym typeface="Calibri"/>
              </a:rPr>
              <a:t>llama 3.3-70b-versatile</a:t>
            </a:r>
            <a:r>
              <a:rPr lang="en-IN" sz="1800">
                <a:solidFill>
                  <a:schemeClr val="dk1"/>
                </a:solidFill>
                <a:latin typeface="Calibri"/>
                <a:ea typeface="Calibri"/>
                <a:cs typeface="Calibri"/>
                <a:sym typeface="Calibri"/>
              </a:rPr>
              <a:t>) chosen specifically for ultra fast, structured JSON generation required for real time schedule rebuilding.</a:t>
            </a:r>
            <a:endParaRPr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Char char="●"/>
            </a:pPr>
            <a:r>
              <a:rPr b="1" lang="en-IN" sz="1800">
                <a:solidFill>
                  <a:schemeClr val="dk1"/>
                </a:solidFill>
                <a:latin typeface="Calibri"/>
                <a:ea typeface="Calibri"/>
                <a:cs typeface="Calibri"/>
                <a:sym typeface="Calibri"/>
              </a:rPr>
              <a:t>Framework:</a:t>
            </a:r>
            <a:r>
              <a:rPr lang="en-IN" sz="1800">
                <a:solidFill>
                  <a:schemeClr val="dk1"/>
                </a:solidFill>
                <a:latin typeface="Calibri"/>
                <a:ea typeface="Calibri"/>
                <a:cs typeface="Calibri"/>
                <a:sym typeface="Calibri"/>
              </a:rPr>
              <a:t> OpenClaw agent workflow. The system uses separated reasoning steps for intent parsing, coordination</a:t>
            </a:r>
            <a:r>
              <a:rPr lang="en-IN" sz="1800">
                <a:solidFill>
                  <a:schemeClr val="dk1"/>
                </a:solidFill>
                <a:latin typeface="Calibri"/>
                <a:ea typeface="Calibri"/>
                <a:cs typeface="Calibri"/>
                <a:sym typeface="Calibri"/>
              </a:rPr>
              <a:t> and</a:t>
            </a:r>
            <a:r>
              <a:rPr lang="en-IN" sz="1800">
                <a:solidFill>
                  <a:schemeClr val="dk1"/>
                </a:solidFill>
                <a:latin typeface="Calibri"/>
                <a:ea typeface="Calibri"/>
                <a:cs typeface="Calibri"/>
                <a:sym typeface="Calibri"/>
              </a:rPr>
              <a:t> adaptation.</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System Flow (Simple):</a:t>
            </a:r>
            <a:r>
              <a:rPr lang="en-IN" sz="1800">
                <a:solidFill>
                  <a:schemeClr val="dk1"/>
                </a:solidFill>
                <a:latin typeface="Calibri"/>
                <a:ea typeface="Calibri"/>
                <a:cs typeface="Calibri"/>
                <a:sym typeface="Calibri"/>
              </a:rPr>
              <a:t> 1. User input is routed to specific modular skills (</a:t>
            </a:r>
            <a:r>
              <a:rPr lang="en-IN" sz="1800">
                <a:solidFill>
                  <a:srgbClr val="188038"/>
                </a:solidFill>
                <a:latin typeface="Calibri"/>
                <a:ea typeface="Calibri"/>
                <a:cs typeface="Calibri"/>
                <a:sym typeface="Calibri"/>
              </a:rPr>
              <a:t>goal_decompose</a:t>
            </a:r>
            <a:r>
              <a:rPr lang="en-IN" sz="1800">
                <a:solidFill>
                  <a:schemeClr val="dk1"/>
                </a:solidFill>
                <a:latin typeface="Calibri"/>
                <a:ea typeface="Calibri"/>
                <a:cs typeface="Calibri"/>
                <a:sym typeface="Calibri"/>
              </a:rPr>
              <a:t>, </a:t>
            </a:r>
            <a:r>
              <a:rPr lang="en-IN" sz="1800">
                <a:solidFill>
                  <a:srgbClr val="188038"/>
                </a:solidFill>
                <a:latin typeface="Calibri"/>
                <a:ea typeface="Calibri"/>
                <a:cs typeface="Calibri"/>
                <a:sym typeface="Calibri"/>
              </a:rPr>
              <a:t>constraint_analysis</a:t>
            </a:r>
            <a:r>
              <a:rPr lang="en-IN" sz="1800">
                <a:solidFill>
                  <a:schemeClr val="dk1"/>
                </a:solidFill>
                <a:latin typeface="Calibri"/>
                <a:ea typeface="Calibri"/>
                <a:cs typeface="Calibri"/>
                <a:sym typeface="Calibri"/>
              </a:rPr>
              <a:t>, </a:t>
            </a:r>
            <a:r>
              <a:rPr lang="en-IN" sz="1800">
                <a:solidFill>
                  <a:srgbClr val="188038"/>
                </a:solidFill>
                <a:latin typeface="Calibri"/>
                <a:ea typeface="Calibri"/>
                <a:cs typeface="Calibri"/>
                <a:sym typeface="Calibri"/>
              </a:rPr>
              <a:t>adaptive_reschedule</a:t>
            </a:r>
            <a:r>
              <a:rPr lang="en-IN" sz="1800">
                <a:solidFill>
                  <a:schemeClr val="dk1"/>
                </a:solidFill>
                <a:latin typeface="Calibri"/>
                <a:ea typeface="Calibri"/>
                <a:cs typeface="Calibri"/>
                <a:sym typeface="Calibri"/>
              </a:rPr>
              <a:t>). 2. Outputs are persistently saved to an OpenClaw style durable memory system using markdown files on disk (</a:t>
            </a:r>
            <a:r>
              <a:rPr lang="en-IN" sz="1800">
                <a:solidFill>
                  <a:srgbClr val="188038"/>
                </a:solidFill>
                <a:latin typeface="Calibri"/>
                <a:ea typeface="Calibri"/>
                <a:cs typeface="Calibri"/>
                <a:sym typeface="Calibri"/>
              </a:rPr>
              <a:t>SOUL.md</a:t>
            </a:r>
            <a:r>
              <a:rPr lang="en-IN" sz="1800">
                <a:solidFill>
                  <a:schemeClr val="dk1"/>
                </a:solidFill>
                <a:latin typeface="Calibri"/>
                <a:ea typeface="Calibri"/>
                <a:cs typeface="Calibri"/>
                <a:sym typeface="Calibri"/>
              </a:rPr>
              <a:t>, </a:t>
            </a:r>
            <a:r>
              <a:rPr lang="en-IN" sz="1800">
                <a:solidFill>
                  <a:srgbClr val="188038"/>
                </a:solidFill>
                <a:latin typeface="Calibri"/>
                <a:ea typeface="Calibri"/>
                <a:cs typeface="Calibri"/>
                <a:sym typeface="Calibri"/>
              </a:rPr>
              <a:t>USER.md</a:t>
            </a:r>
            <a:r>
              <a:rPr lang="en-IN" sz="1800">
                <a:solidFill>
                  <a:schemeClr val="dk1"/>
                </a:solidFill>
                <a:latin typeface="Calibri"/>
                <a:ea typeface="Calibri"/>
                <a:cs typeface="Calibri"/>
                <a:sym typeface="Calibri"/>
              </a:rPr>
              <a:t>, </a:t>
            </a:r>
            <a:r>
              <a:rPr lang="en-IN" sz="1800">
                <a:solidFill>
                  <a:srgbClr val="188038"/>
                </a:solidFill>
                <a:latin typeface="Calibri"/>
                <a:ea typeface="Calibri"/>
                <a:cs typeface="Calibri"/>
                <a:sym typeface="Calibri"/>
              </a:rPr>
              <a:t>HEARTBEAT.md</a:t>
            </a:r>
            <a:r>
              <a:rPr lang="en-IN" sz="1800">
                <a:solidFill>
                  <a:schemeClr val="dk1"/>
                </a:solidFill>
                <a:latin typeface="Calibri"/>
                <a:ea typeface="Calibri"/>
                <a:cs typeface="Calibri"/>
                <a:sym typeface="Calibri"/>
              </a:rPr>
              <a:t>, </a:t>
            </a:r>
            <a:r>
              <a:rPr lang="en-IN" sz="1800">
                <a:solidFill>
                  <a:srgbClr val="188038"/>
                </a:solidFill>
                <a:latin typeface="Calibri"/>
                <a:ea typeface="Calibri"/>
                <a:cs typeface="Calibri"/>
                <a:sym typeface="Calibri"/>
              </a:rPr>
              <a:t>Skill.md</a:t>
            </a:r>
            <a:r>
              <a:rPr lang="en-IN" sz="1800">
                <a:solidFill>
                  <a:schemeClr val="dk1"/>
                </a:solidFill>
                <a:latin typeface="Calibri"/>
                <a:ea typeface="Calibri"/>
                <a:cs typeface="Calibri"/>
                <a:sym typeface="Calibri"/>
              </a:rPr>
              <a:t>). 3. Optional integrations via Google Calendar API to pull existing commitments</a:t>
            </a:r>
            <a:r>
              <a:rPr lang="en-IN" sz="1800">
                <a:solidFill>
                  <a:schemeClr val="dk1"/>
                </a:solidFill>
                <a:latin typeface="Calibri"/>
                <a:ea typeface="Calibri"/>
                <a:cs typeface="Calibri"/>
                <a:sym typeface="Calibri"/>
              </a:rPr>
              <a:t> and</a:t>
            </a:r>
            <a:r>
              <a:rPr lang="en-IN" sz="1800">
                <a:solidFill>
                  <a:schemeClr val="dk1"/>
                </a:solidFill>
                <a:latin typeface="Calibri"/>
                <a:ea typeface="Calibri"/>
                <a:cs typeface="Calibri"/>
                <a:sym typeface="Calibri"/>
              </a:rPr>
              <a:t> notification services (Push/WhatsApp) for daily reminders.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5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0"/>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0"/>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59" name="Google Shape;159;p20"/>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p:txBody>
      </p:sp>
      <p:sp>
        <p:nvSpPr>
          <p:cNvPr id="160" name="Google Shape;160;p20"/>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61" name="Google Shape;161;p20"/>
          <p:cNvSpPr txBox="1"/>
          <p:nvPr/>
        </p:nvSpPr>
        <p:spPr>
          <a:xfrm>
            <a:off x="1063975" y="1633725"/>
            <a:ext cx="9908700" cy="4479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Real life scenario 1 (The Sick Week):</a:t>
            </a:r>
            <a:r>
              <a:rPr lang="en-IN" sz="1900">
                <a:solidFill>
                  <a:schemeClr val="dk1"/>
                </a:solidFill>
                <a:latin typeface="Calibri"/>
                <a:ea typeface="Calibri"/>
                <a:cs typeface="Calibri"/>
                <a:sym typeface="Calibri"/>
              </a:rPr>
              <a:t> A user misses three days of GATE preparation due to a viral fever. Instead of showing a massive wall of overdue, red text tasks, the Adaptive Rescheduling module detects the gap and silently shifts the workload to upcoming weekend buffer slots, keeping the user stress free.</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Real life scenario 2 (The Reality Check):</a:t>
            </a:r>
            <a:r>
              <a:rPr lang="en-IN" sz="1900">
                <a:solidFill>
                  <a:schemeClr val="dk1"/>
                </a:solidFill>
                <a:latin typeface="Calibri"/>
                <a:ea typeface="Calibri"/>
                <a:cs typeface="Calibri"/>
                <a:sym typeface="Calibri"/>
              </a:rPr>
              <a:t> A student initially plans to study 5 hours a day. After a month, college labs increase, reducing their free time to 2 hours. They input this constraint into the Simulator, see their goal completion date push back by 4 weeks</a:t>
            </a:r>
            <a:r>
              <a:rPr lang="en-IN" sz="1900">
                <a:solidFill>
                  <a:schemeClr val="dk1"/>
                </a:solidFill>
                <a:latin typeface="Calibri"/>
                <a:ea typeface="Calibri"/>
                <a:cs typeface="Calibri"/>
                <a:sym typeface="Calibri"/>
              </a:rPr>
              <a:t> and</a:t>
            </a:r>
            <a:r>
              <a:rPr lang="en-IN" sz="1900">
                <a:solidFill>
                  <a:schemeClr val="dk1"/>
                </a:solidFill>
                <a:latin typeface="Calibri"/>
                <a:ea typeface="Calibri"/>
                <a:cs typeface="Calibri"/>
                <a:sym typeface="Calibri"/>
              </a:rPr>
              <a:t> accept the realistic new plan without abandoning the goal entirely.</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Real life scenario 3 (Burnout Prevention):</a:t>
            </a:r>
            <a:r>
              <a:rPr lang="en-IN" sz="1900">
                <a:solidFill>
                  <a:schemeClr val="dk1"/>
                </a:solidFill>
                <a:latin typeface="Calibri"/>
                <a:ea typeface="Calibri"/>
                <a:cs typeface="Calibri"/>
                <a:sym typeface="Calibri"/>
              </a:rPr>
              <a:t> The system recognizes consecutive missed tasks. Instead of compounding the user's daily workload to catch up, the system automatically suggests extending the timeline or utilizing the 5th day buffer slot to ensure sustainable pacing.</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Scale Potential:</a:t>
            </a:r>
            <a:r>
              <a:rPr lang="en-IN" sz="1900">
                <a:solidFill>
                  <a:schemeClr val="dk1"/>
                </a:solidFill>
                <a:latin typeface="Calibri"/>
                <a:ea typeface="Calibri"/>
                <a:cs typeface="Calibri"/>
                <a:sym typeface="Calibri"/>
              </a:rPr>
              <a:t> The backend architecture is content agnostic. By simply swapping the syllabus dictionary, the app instantly scales from competitive exams to language learning, coding bootcamps, or fitness goals.</a:t>
            </a:r>
            <a:endParaRPr sz="19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1"/>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1"/>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1"/>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70" name="Google Shape;170;p21"/>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p:txBody>
      </p:sp>
      <p:sp>
        <p:nvSpPr>
          <p:cNvPr id="171" name="Google Shape;171;p21"/>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72" name="Google Shape;172;p21"/>
          <p:cNvSpPr txBox="1"/>
          <p:nvPr/>
        </p:nvSpPr>
        <p:spPr>
          <a:xfrm>
            <a:off x="938125" y="1754825"/>
            <a:ext cx="10034700" cy="4155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Why your solution stands out:</a:t>
            </a:r>
            <a:r>
              <a:rPr lang="en-IN" sz="2200">
                <a:solidFill>
                  <a:schemeClr val="dk1"/>
                </a:solidFill>
                <a:latin typeface="Calibri"/>
                <a:ea typeface="Calibri"/>
                <a:cs typeface="Calibri"/>
                <a:sym typeface="Calibri"/>
              </a:rPr>
              <a:t> Most AI planners are just wrappers around an LLM that generate static lists. FlowStateAI functions as a dynamic, autonomous project manager that actively monitors execution and fixes the plan when it breaks.</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Strong MOAT 1: Commitment First Planning Architecture:</a:t>
            </a:r>
            <a:r>
              <a:rPr lang="en-IN" sz="2200">
                <a:solidFill>
                  <a:schemeClr val="dk1"/>
                </a:solidFill>
                <a:latin typeface="Calibri"/>
                <a:ea typeface="Calibri"/>
                <a:cs typeface="Calibri"/>
                <a:sym typeface="Calibri"/>
              </a:rPr>
              <a:t> Standard planners take a goal and try to squeeze it into a calendar. FlowStateAI maps the user's non negotiable commitments </a:t>
            </a:r>
            <a:r>
              <a:rPr i="1" lang="en-IN" sz="2200">
                <a:solidFill>
                  <a:schemeClr val="dk1"/>
                </a:solidFill>
                <a:latin typeface="Calibri"/>
                <a:ea typeface="Calibri"/>
                <a:cs typeface="Calibri"/>
                <a:sym typeface="Calibri"/>
              </a:rPr>
              <a:t>first</a:t>
            </a:r>
            <a:r>
              <a:rPr lang="en-IN" sz="2200">
                <a:solidFill>
                  <a:schemeClr val="dk1"/>
                </a:solidFill>
                <a:latin typeface="Calibri"/>
                <a:ea typeface="Calibri"/>
                <a:cs typeface="Calibri"/>
                <a:sym typeface="Calibri"/>
              </a:rPr>
              <a:t>, finds the actual cognitive gaps</a:t>
            </a:r>
            <a:r>
              <a:rPr lang="en-IN" sz="2200">
                <a:solidFill>
                  <a:schemeClr val="dk1"/>
                </a:solidFill>
                <a:latin typeface="Calibri"/>
                <a:ea typeface="Calibri"/>
                <a:cs typeface="Calibri"/>
                <a:sym typeface="Calibri"/>
              </a:rPr>
              <a:t> and</a:t>
            </a:r>
            <a:r>
              <a:rPr lang="en-IN" sz="2200">
                <a:solidFill>
                  <a:schemeClr val="dk1"/>
                </a:solidFill>
                <a:latin typeface="Calibri"/>
                <a:ea typeface="Calibri"/>
                <a:cs typeface="Calibri"/>
                <a:sym typeface="Calibri"/>
              </a:rPr>
              <a:t> only then fits the goal into reality.</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Strong MOAT 2: Plan Comparison Simulation Engine:</a:t>
            </a:r>
            <a:r>
              <a:rPr lang="en-IN" sz="2200">
                <a:solidFill>
                  <a:schemeClr val="dk1"/>
                </a:solidFill>
                <a:latin typeface="Calibri"/>
                <a:ea typeface="Calibri"/>
                <a:cs typeface="Calibri"/>
                <a:sym typeface="Calibri"/>
              </a:rPr>
              <a:t> Giving users an analytical "What If" sandbox to visualize the timeline impact of their life choices </a:t>
            </a:r>
            <a:r>
              <a:rPr i="1" lang="en-IN" sz="2200">
                <a:solidFill>
                  <a:schemeClr val="dk1"/>
                </a:solidFill>
                <a:latin typeface="Calibri"/>
                <a:ea typeface="Calibri"/>
                <a:cs typeface="Calibri"/>
                <a:sym typeface="Calibri"/>
              </a:rPr>
              <a:t>before</a:t>
            </a:r>
            <a:r>
              <a:rPr lang="en-IN" sz="2200">
                <a:solidFill>
                  <a:schemeClr val="dk1"/>
                </a:solidFill>
                <a:latin typeface="Calibri"/>
                <a:ea typeface="Calibri"/>
                <a:cs typeface="Calibri"/>
                <a:sym typeface="Calibri"/>
              </a:rPr>
              <a:t> committing to schedule changes. It treats personal planning with the rigor of enterprise resource management.</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2"/>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81" name="Google Shape;181;p22"/>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p:txBody>
      </p:sp>
      <p:sp>
        <p:nvSpPr>
          <p:cNvPr id="182" name="Google Shape;182;p22"/>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183" name="Google Shape;183;p22"/>
          <p:cNvSpPr txBox="1"/>
          <p:nvPr/>
        </p:nvSpPr>
        <p:spPr>
          <a:xfrm>
            <a:off x="740496" y="1682945"/>
            <a:ext cx="55704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u="sng">
                <a:solidFill>
                  <a:schemeClr val="hlink"/>
                </a:solidFill>
                <a:latin typeface="Calibri"/>
                <a:ea typeface="Calibri"/>
                <a:cs typeface="Calibri"/>
                <a:sym typeface="Calibri"/>
                <a:hlinkClick r:id="rId3"/>
              </a:rPr>
              <a:t>https://github.com/ojasvidesai05/FlowStateAI</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Video Demo - github</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APK File - github</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AI Disclosure - github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